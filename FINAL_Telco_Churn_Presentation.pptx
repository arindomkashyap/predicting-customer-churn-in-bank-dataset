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262" r:id="rId9"/>
    <p:sldId id="263" r:id="rId10"/>
    <p:sldId id="264" r:id="rId11"/>
    <p:sldId id="289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90" r:id="rId20"/>
    <p:sldId id="272" r:id="rId21"/>
    <p:sldId id="282" r:id="rId22"/>
    <p:sldId id="283" r:id="rId23"/>
    <p:sldId id="284" r:id="rId24"/>
    <p:sldId id="285" r:id="rId25"/>
    <p:sldId id="286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89"/>
    <p:restoredTop sz="94610"/>
  </p:normalViewPr>
  <p:slideViewPr>
    <p:cSldViewPr snapToGrid="0" snapToObjects="1">
      <p:cViewPr>
        <p:scale>
          <a:sx n="82" d="100"/>
          <a:sy n="82" d="100"/>
        </p:scale>
        <p:origin x="1040" y="1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955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Customer Churn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Explainable AI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 LIME on the Telecommunication dataset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921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051560" cy="1280160"/>
          </a:xfrm>
          <a:prstGeom prst="rect">
            <a:avLst/>
          </a:prstGeom>
          <a:solidFill>
            <a:srgbClr val="0B1D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63624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64208" y="1645920"/>
            <a:ext cx="1051560" cy="1280160"/>
          </a:xfrm>
          <a:prstGeom prst="rect">
            <a:avLst/>
          </a:prstGeom>
          <a:solidFill>
            <a:srgbClr val="0E346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64208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24912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25496" y="1645920"/>
            <a:ext cx="1051560" cy="1280160"/>
          </a:xfrm>
          <a:prstGeom prst="rect">
            <a:avLst/>
          </a:prstGeom>
          <a:solidFill>
            <a:srgbClr val="1565A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25496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86200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86784" y="1645920"/>
            <a:ext cx="1051560" cy="1280160"/>
          </a:xfrm>
          <a:prstGeom prst="rect">
            <a:avLst/>
          </a:prstGeom>
          <a:solidFill>
            <a:srgbClr val="1A7FB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86784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47488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48072" y="1645920"/>
            <a:ext cx="1051560" cy="1280160"/>
          </a:xfrm>
          <a:prstGeom prst="rect">
            <a:avLst/>
          </a:prstGeom>
          <a:solidFill>
            <a:srgbClr val="00B4D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48072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Visualization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08776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1645920"/>
            <a:ext cx="1051560" cy="1280160"/>
          </a:xfrm>
          <a:prstGeom prst="rect">
            <a:avLst/>
          </a:prstGeom>
          <a:solidFill>
            <a:srgbClr val="F4A52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70064" y="205740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70648" y="1645920"/>
            <a:ext cx="1051560" cy="1280160"/>
          </a:xfrm>
          <a:prstGeom prst="rect">
            <a:avLst/>
          </a:prstGeom>
          <a:solidFill>
            <a:srgbClr val="E53E3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70648" y="1828800"/>
            <a:ext cx="1051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291840"/>
            <a:ext cx="3483864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XGBoost, LightGBM, 1D CNN, MLP (GELU), Transformer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1210" y="3108960"/>
            <a:ext cx="3934150" cy="18102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 feature importance) + LIME (local instance explanations)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WA_Telco Customer Churn.                    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  Kaggle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411001" y="13487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11001" y="14859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411001" y="21259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14121" y="13487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14121" y="14859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14121" y="21259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17241" y="1348740"/>
            <a:ext cx="1828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17241" y="14859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53E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617241" y="21259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417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580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7128" y="289318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numerical (tenure, MonthlyCharges, TotalCharges) + 15 categorical (Contract, InternetService, PaymentMethod, etc.) + customerID + Churn 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57114" y="3654626"/>
            <a:ext cx="70639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= 5,174 (73.5%)  |  Churn = 1,869 (26.5%)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89846" y="408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blank TotalCharges values (tenure=0 new customers) — filled with 0.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21" name="Picture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147E05B-C2C0-7BC6-B0CB-BAFB03FD2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167" y="3598476"/>
            <a:ext cx="2524023" cy="13261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Multicollinearity Check — VIF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44247" y="340995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40265" y="55549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TotalCharges (VIF=8.08, r=0.83 with tenure). After drop: both remaining VIFs = 2.61.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158A06-357D-9774-9444-0FB75BB93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27" y="756421"/>
            <a:ext cx="7772400" cy="2041375"/>
          </a:xfrm>
          <a:prstGeom prst="rect">
            <a:avLst/>
          </a:prstGeom>
        </p:spPr>
      </p:pic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4DA94901-F5EB-9D1B-0C1E-1192570B6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399" y="2890147"/>
            <a:ext cx="3078866" cy="1359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EDA — Numerical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tenure and MonthlyCharges by churn status</a:t>
            </a:r>
            <a:endParaRPr lang="en-US" sz="1200" dirty="0"/>
          </a:p>
        </p:txBody>
      </p:sp>
      <p:pic>
        <p:nvPicPr>
          <p:cNvPr id="4" name="Image 0" descr="/home/claude/nb_images/cell10_out00.png"/>
          <p:cNvPicPr>
            <a:picLocks noChangeAspect="1"/>
          </p:cNvPicPr>
          <p:nvPr/>
        </p:nvPicPr>
        <p:blipFill>
          <a:blip r:embed="rId3"/>
          <a:srcRect b="48401"/>
          <a:stretch/>
        </p:blipFill>
        <p:spPr>
          <a:xfrm>
            <a:off x="274320" y="1353788"/>
            <a:ext cx="8595360" cy="2738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6" name="Image 0" descr="/home/claude/nb_images/cell10_out00.png">
            <a:extLst>
              <a:ext uri="{FF2B5EF4-FFF2-40B4-BE49-F238E27FC236}">
                <a16:creationId xmlns:a16="http://schemas.microsoft.com/office/drawing/2014/main" id="{AD1446B0-C178-2AFA-FB92-74123A81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48" t="65957" r="16644" b="20374"/>
          <a:stretch/>
        </p:blipFill>
        <p:spPr>
          <a:xfrm>
            <a:off x="6797478" y="4173429"/>
            <a:ext cx="2072202" cy="499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EDA — Categorical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B934E22-0265-0A54-498F-6E783F47D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280160"/>
            <a:ext cx="2571524" cy="31278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4294E-D3F8-38A1-C8D5-4DC6B353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0592" y="1280160"/>
            <a:ext cx="2571524" cy="3133242"/>
          </a:xfrm>
          <a:prstGeom prst="rect">
            <a:avLst/>
          </a:prstGeom>
        </p:spPr>
      </p:pic>
      <p:pic>
        <p:nvPicPr>
          <p:cNvPr id="15" name="Picture 14" descr="A screen shot of a computer&#10;&#10;Description automatically generated">
            <a:extLst>
              <a:ext uri="{FF2B5EF4-FFF2-40B4-BE49-F238E27FC236}">
                <a16:creationId xmlns:a16="http://schemas.microsoft.com/office/drawing/2014/main" id="{D78E7E97-D831-4D03-7400-155EF4F152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3097" y="1827926"/>
            <a:ext cx="2971802" cy="20323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0881AA-014A-4CE4-0BA6-57B58D10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8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7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Key Churn Drivers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Contract, Internet Service, Payment Method</a:t>
            </a:r>
            <a:endParaRPr lang="en-US" sz="1200" dirty="0"/>
          </a:p>
        </p:txBody>
      </p:sp>
      <p:pic>
        <p:nvPicPr>
          <p:cNvPr id="4" name="Image 0" descr="/home/claude/nb_images/cell17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51560"/>
            <a:ext cx="877824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14800"/>
            <a:ext cx="8046720" cy="1153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show ~43% churn vs 3% for Two-year. Fiber Optic users churn at 42% vs 19% DSL. Electronic check payers churn at 45%. </a:t>
            </a:r>
          </a:p>
          <a:p>
            <a:r>
              <a:rPr lang="en-IN" sz="11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These three features will form the basis of our engineered features: </a:t>
            </a:r>
            <a:r>
              <a:rPr lang="en-IN" sz="11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IsMonthToMonth</a:t>
            </a:r>
            <a:r>
              <a:rPr lang="en-IN" sz="11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N" sz="11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HasFiber</a:t>
            </a:r>
            <a:r>
              <a:rPr lang="en-IN" sz="11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and </a:t>
            </a:r>
            <a:r>
              <a:rPr lang="en-IN" sz="1100" dirty="0" err="1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IsElectronicCheck</a:t>
            </a:r>
            <a:r>
              <a:rPr lang="en-IN" sz="11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The churn rate differences are not marginal — they are 3x to 10x differences, which is why they turn out to be the most powerful predictors across all models.</a:t>
            </a: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Tenure Distribution by Contract Type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plot showing how contract type shapes customer lifetime</a:t>
            </a:r>
            <a:endParaRPr lang="en-US" sz="1200" dirty="0"/>
          </a:p>
        </p:txBody>
      </p:sp>
      <p:pic>
        <p:nvPicPr>
          <p:cNvPr id="4" name="Image 0" descr="/home/claude/nb_images/cell18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80467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278" y="44119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cluster at low tenure (peak ~1 month), while Two-year contracts build tenure over decades — a natural retention mechanism.</a:t>
            </a:r>
          </a:p>
          <a:p>
            <a:pPr marL="0" indent="0">
              <a:buNone/>
            </a:pPr>
            <a:endParaRPr lang="en-US" sz="8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IN" sz="800" dirty="0">
                <a:solidFill>
                  <a:srgbClr val="1E293B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plot is important because it shows that contract type is not just correlated with churn — it fundamentally determines the customer lifecycle shape. It also justifies why tenure and contract type together are so powerful for prediction.</a:t>
            </a:r>
            <a:endParaRPr lang="en-IN" sz="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Multivariate EDA — Interaction Heatmaps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rates across feature combinations</a:t>
            </a:r>
            <a:endParaRPr lang="en-US" sz="1200" dirty="0"/>
          </a:p>
        </p:txBody>
      </p:sp>
      <p:pic>
        <p:nvPicPr>
          <p:cNvPr id="4" name="Image 0" descr="/home/claude/nb_images/cell20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46871"/>
            <a:ext cx="87782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519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1.Month-to-month + Fiber: 54.6% churn (HIGHEST risk)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2.Fiber + No Security: 49.4% churn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7E4BF-43C9-76B9-3280-038AC93F7AA2}"/>
              </a:ext>
            </a:extLst>
          </p:cNvPr>
          <p:cNvSpPr txBox="1"/>
          <p:nvPr/>
        </p:nvSpPr>
        <p:spPr>
          <a:xfrm>
            <a:off x="5593932" y="4201551"/>
            <a:ext cx="17456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dirty="0"/>
              <a:t>Highest churn combinations:</a:t>
            </a:r>
          </a:p>
          <a:p>
            <a:r>
              <a:rPr lang="en-IN" sz="900" dirty="0"/>
              <a:t>• Month-to-month + Fiber optic</a:t>
            </a:r>
            <a:br>
              <a:rPr lang="en-IN" sz="900" dirty="0"/>
            </a:br>
            <a:r>
              <a:rPr lang="en-IN" sz="900" dirty="0"/>
              <a:t>• Month-to-month + Electronic check</a:t>
            </a:r>
            <a:br>
              <a:rPr lang="en-IN" sz="900" dirty="0"/>
            </a:br>
            <a:r>
              <a:rPr lang="en-IN" sz="900" dirty="0"/>
              <a:t>• Fiber optic + No security</a:t>
            </a:r>
            <a:br>
              <a:rPr lang="en-IN" sz="900" dirty="0"/>
            </a:br>
            <a:r>
              <a:rPr lang="en-IN" sz="900" dirty="0"/>
              <a:t>• Fiber optic + No tech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286EDFE4-39FD-191F-09FC-3A540F6BB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557721"/>
            <a:ext cx="8178799" cy="402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806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Tests — Normality &amp; Group Differences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Normality Tests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Shapiro-Wilk, KS, Anderson-Darling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Stat=0.9026, p=8.92e-49 → NOT NORMAL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Stat=0.9211, p=2.68e-45 → NOT NORMAL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features violate normality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non-parametric tests (Mann-Whitney, Kruskal-Wallis)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Mann-Whitney U + Effect Size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3480" y="164592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 correlation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U=7.15M, p≈0</a:t>
            </a:r>
          </a:p>
          <a:p>
            <a:pPr marL="0" indent="0" algn="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−0.48 (Large effect)</a:t>
            </a: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IN" sz="800" dirty="0"/>
              <a:t>Customers who churn tend to have lower tenure.</a:t>
            </a:r>
            <a:endParaRPr lang="en-US" sz="8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Median: Stay=38 vs Churn=10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MonthlyCharges: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U=3.67M, p=3.31e-54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4A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 = +0.24 (Medium effect)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Median: Stay=64.4 vs Churn=79.7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2A0659D0-704C-6EA6-85ED-534B506C4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32" y="3937884"/>
            <a:ext cx="3103288" cy="1205285"/>
          </a:xfrm>
          <a:prstGeom prst="rect">
            <a:avLst/>
          </a:prstGeom>
        </p:spPr>
      </p:pic>
      <p:pic>
        <p:nvPicPr>
          <p:cNvPr id="14" name="Picture 13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51AF3E4F-2D29-1F83-9B22-8E170E6D5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938215"/>
            <a:ext cx="1686386" cy="12052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Chi-Square Tests &amp; Cramér's V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categorical feature association with churn</a:t>
            </a:r>
            <a:endParaRPr lang="en-US" sz="1200" dirty="0"/>
          </a:p>
        </p:txBody>
      </p:sp>
      <p:pic>
        <p:nvPicPr>
          <p:cNvPr id="4" name="Image 0" descr="/home/claude/nb_images/cell32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97280"/>
            <a:ext cx="877824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associations: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(0.41), OnlineSecurity (0.35), TechSupport (0.34), InternetService (0.32).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(V=0.008, p=0.49) and PhoneService (V=0.011, p=0.34) — no association.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BB3F7-63DD-8DBC-3256-6E9F973C8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6661" y="47148"/>
            <a:ext cx="1488757" cy="1224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Spearman Correlation &amp; Mutual Information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 and non-linear feature-churn relationships</a:t>
            </a:r>
            <a:endParaRPr lang="en-US" sz="1200" dirty="0"/>
          </a:p>
        </p:txBody>
      </p:sp>
      <p:pic>
        <p:nvPicPr>
          <p:cNvPr id="4" name="Image 0" descr="/home/claude/nb_images/cell36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7280"/>
            <a:ext cx="5029200" cy="3108960"/>
          </a:xfrm>
          <a:prstGeom prst="rect">
            <a:avLst/>
          </a:prstGeom>
        </p:spPr>
      </p:pic>
      <p:pic>
        <p:nvPicPr>
          <p:cNvPr id="5" name="Image 1" descr="/home/claude/nb_images/cell38_out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55736"/>
            <a:ext cx="393192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captures monotonic trends; MI (right) detects any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dependency </a:t>
            </a:r>
            <a:r>
              <a:rPr lang="en-IN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including non-linear patterns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Contract, tenure, TechSupport, OnlineSecurity top both rankings — confirming their predictive power.</a:t>
            </a:r>
            <a:endParaRPr lang="en-US" sz="1100" dirty="0"/>
          </a:p>
        </p:txBody>
      </p:sp>
      <p:pic>
        <p:nvPicPr>
          <p:cNvPr id="9" name="Picture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8607CC4-4384-AF84-85B2-7AA0526DB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850" y="1533256"/>
            <a:ext cx="1500624" cy="10384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600" dirty="0"/>
          </a:p>
        </p:txBody>
      </p:sp>
      <p:pic>
        <p:nvPicPr>
          <p:cNvPr id="4" name="Image 0" descr="/home/claude/nb_images/cell42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188720"/>
            <a:ext cx="475488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029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1208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IsMonthToMonth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HasFiber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IsElectronicCheck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TotalServices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HasProtection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HasFamily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TenureMonthlyRatio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ChargePerService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10" name="Picture 9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CCC9F474-B5BB-59AA-0059-827667F75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296" y="2271276"/>
            <a:ext cx="1718504" cy="13096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Feature-Space Clustering &amp; t-SNE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(K=3) reveals natural customer segments</a:t>
            </a:r>
            <a:endParaRPr lang="en-US" sz="1200" dirty="0"/>
          </a:p>
        </p:txBody>
      </p:sp>
      <p:pic>
        <p:nvPicPr>
          <p:cNvPr id="4" name="Image 0" descr="/home/claude/nb_images/cell45_ou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502920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097280"/>
            <a:ext cx="35661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0352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Profiles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29016"/>
              </p:ext>
            </p:extLst>
          </p:nvPr>
        </p:nvGraphicFramePr>
        <p:xfrm>
          <a:off x="5486400" y="1569978"/>
          <a:ext cx="3017520" cy="13716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 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 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Size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1,533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3,040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2,470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Churn%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8A169"/>
                          </a:solidFill>
                        </a:rPr>
                        <a:t>7.2%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53E3E"/>
                          </a:solidFill>
                        </a:rPr>
                        <a:t>47.7%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4A522"/>
                          </a:solidFill>
                        </a:rPr>
                        <a:t>12.5%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Tenure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Monthly$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$21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$71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Services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1.5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303520" y="3383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(high charges, low tenure, few services) has 47.7% churn — the primary risk group.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Multi-Feature t-SNE Views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t-SNE by different features to reveal separability patterns</a:t>
            </a:r>
            <a:endParaRPr lang="en-US" sz="1200" dirty="0"/>
          </a:p>
        </p:txBody>
      </p:sp>
      <p:pic>
        <p:nvPicPr>
          <p:cNvPr id="4" name="Image 0" descr="/home/claude/nb_images/cell46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89611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Feature-Space Scatter Plots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feature combinations — no dimensionality reduction</a:t>
            </a:r>
            <a:endParaRPr lang="en-US" sz="1200" dirty="0"/>
          </a:p>
        </p:txBody>
      </p:sp>
      <p:pic>
        <p:nvPicPr>
          <p:cNvPr id="4" name="Image 0" descr="/home/claude/nb_images/cell47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89611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5ED91-927C-CF5B-0BE6-5298F80E4B54}"/>
              </a:ext>
            </a:extLst>
          </p:cNvPr>
          <p:cNvSpPr txBox="1"/>
          <p:nvPr/>
        </p:nvSpPr>
        <p:spPr>
          <a:xfrm>
            <a:off x="1124465" y="515547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Retention strategy</a:t>
            </a:r>
          </a:p>
          <a:p>
            <a:r>
              <a:rPr lang="en-IN" dirty="0"/>
              <a:t>Focus on customers with:</a:t>
            </a:r>
          </a:p>
          <a:p>
            <a:r>
              <a:rPr lang="en-IN" dirty="0"/>
              <a:t>• low tenure</a:t>
            </a:r>
            <a:br>
              <a:rPr lang="en-IN" dirty="0"/>
            </a:br>
            <a:r>
              <a:rPr lang="en-IN" dirty="0"/>
              <a:t>• month-to-month contracts</a:t>
            </a:r>
            <a:br>
              <a:rPr lang="en-IN" dirty="0"/>
            </a:br>
            <a:r>
              <a:rPr lang="en-IN" dirty="0"/>
              <a:t>• few 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F076C0-28CA-EA62-8092-69291370204A}"/>
              </a:ext>
            </a:extLst>
          </p:cNvPr>
          <p:cNvSpPr txBox="1"/>
          <p:nvPr/>
        </p:nvSpPr>
        <p:spPr>
          <a:xfrm>
            <a:off x="1124465" y="342762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Upselling strategy</a:t>
            </a:r>
          </a:p>
          <a:p>
            <a:r>
              <a:rPr lang="en-IN" dirty="0"/>
              <a:t>Encourage customers to adopt:</a:t>
            </a:r>
          </a:p>
          <a:p>
            <a:r>
              <a:rPr lang="en-IN" dirty="0"/>
              <a:t>• bundled services</a:t>
            </a:r>
            <a:br>
              <a:rPr lang="en-IN" dirty="0"/>
            </a:br>
            <a:r>
              <a:rPr lang="en-IN" dirty="0"/>
              <a:t>• long-term contracts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481306-C725-5687-F0FF-4D0870E0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465" y="1858316"/>
            <a:ext cx="4072581" cy="173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98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 &amp; Model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24-feature set after encoding, SMOTE for class balance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Train/Test &amp; SMOTE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5,634  |  Test: 1,409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to training set: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8,278 samples (4,139 each class)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24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 (proportional to n_features=24)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2743200" cy="731520"/>
          </a:xfrm>
          <a:prstGeom prst="rect">
            <a:avLst/>
          </a:prstGeom>
          <a:solidFill>
            <a:srgbClr val="0B1D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Conv1D(24)→Conv1D(12)→Dense(6)→1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3977640"/>
            <a:ext cx="2743200" cy="731520"/>
          </a:xfrm>
          <a:prstGeom prst="rect">
            <a:avLst/>
          </a:prstGeom>
          <a:solidFill>
            <a:srgbClr val="0B1D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24→12→6→3→1 (GELU)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977640"/>
            <a:ext cx="2743200" cy="731520"/>
          </a:xfrm>
          <a:prstGeom prst="rect">
            <a:avLst/>
          </a:prstGeom>
          <a:solidFill>
            <a:srgbClr val="0B1D3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embed=32,, 2 blocks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900" dirty="0"/>
          </a:p>
        </p:txBody>
      </p:sp>
      <p:pic>
        <p:nvPicPr>
          <p:cNvPr id="19" name="Picture 18" descr="A screen shot of a computer&#10;&#10;Description automatically generated">
            <a:extLst>
              <a:ext uri="{FF2B5EF4-FFF2-40B4-BE49-F238E27FC236}">
                <a16:creationId xmlns:a16="http://schemas.microsoft.com/office/drawing/2014/main" id="{C8F1A942-AEA5-36E5-4849-73715AE0B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554480"/>
            <a:ext cx="1079408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Model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ranked by ROC-AUC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Best: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closely followed by</a:t>
            </a:r>
            <a:r>
              <a:rPr lang="en-US" sz="1100" b="1" dirty="0">
                <a:solidFill>
                  <a:srgbClr val="156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XGBoost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Transformer. Tree ensembles dominate on tabular data, but the Transformer is competitive.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502A0E9-FD80-A3DF-8D95-62D1F6849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13" y="1010920"/>
            <a:ext cx="5380744" cy="3286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— Global Feature Importance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across all 7 models (excluding Decision Tree)</a:t>
            </a:r>
            <a:endParaRPr lang="en-US" sz="1200" dirty="0"/>
          </a:p>
        </p:txBody>
      </p:sp>
      <p:pic>
        <p:nvPicPr>
          <p:cNvPr id="4" name="Image 0" descr="/home/claude/nb_images/cell84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05840"/>
            <a:ext cx="5303520" cy="3108960"/>
          </a:xfrm>
          <a:prstGeom prst="rect">
            <a:avLst/>
          </a:prstGeom>
        </p:spPr>
      </p:pic>
      <p:pic>
        <p:nvPicPr>
          <p:cNvPr id="5" name="Image 1" descr="/home/claude/nb_images/cell85_out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005840"/>
            <a:ext cx="356616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top features: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TenureMonthlyRatio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IsElectronicCheck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HasFiber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OnlineSecurity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 Detail — </a:t>
            </a:r>
            <a:r>
              <a:rPr lang="en-US" sz="2600" b="1" dirty="0" err="1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 + Beeswarm plot</a:t>
            </a:r>
            <a:endParaRPr lang="en-US" sz="1200" dirty="0"/>
          </a:p>
        </p:txBody>
      </p:sp>
      <p:pic>
        <p:nvPicPr>
          <p:cNvPr id="4" name="Image 0" descr="/home/claude/nb_images/cell79_ou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51560"/>
            <a:ext cx="4480560" cy="3200400"/>
          </a:xfrm>
          <a:prstGeom prst="rect">
            <a:avLst/>
          </a:prstGeom>
        </p:spPr>
      </p:pic>
      <p:pic>
        <p:nvPicPr>
          <p:cNvPr id="5" name="Image 1" descr="/home/claude/nb_images/cell79_out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51560"/>
            <a:ext cx="448056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direction: higher Contract value (longer term) reduces churn SHAP; higher HasFiber increases it.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LIME — Local Instance Explanations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pic>
        <p:nvPicPr>
          <p:cNvPr id="4" name="Image 0" descr="/home/claude/nb_images/cell73_out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051560"/>
            <a:ext cx="3017520" cy="2560320"/>
          </a:xfrm>
          <a:prstGeom prst="rect">
            <a:avLst/>
          </a:prstGeom>
        </p:spPr>
      </p:pic>
      <p:pic>
        <p:nvPicPr>
          <p:cNvPr id="5" name="Image 1" descr="/home/claude/nb_images/cell73_out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051560"/>
            <a:ext cx="3017520" cy="2560320"/>
          </a:xfrm>
          <a:prstGeom prst="rect">
            <a:avLst/>
          </a:prstGeom>
        </p:spPr>
      </p:pic>
      <p:pic>
        <p:nvPicPr>
          <p:cNvPr id="6" name="Image 2" descr="/home/claude/nb_images/cell73_out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051560"/>
            <a:ext cx="3017520" cy="2560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1440" y="3611880"/>
            <a:ext cx="8961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D1479F-EEBD-212F-C8C8-7C50834D0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3520" y="3659104"/>
            <a:ext cx="1729719" cy="1423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2F279B-A348-C4E0-56C5-73A50B656D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7463" y="3657600"/>
            <a:ext cx="1729719" cy="1423436"/>
          </a:xfrm>
          <a:prstGeom prst="rect">
            <a:avLst/>
          </a:prstGeom>
        </p:spPr>
      </p:pic>
      <p:pic>
        <p:nvPicPr>
          <p:cNvPr id="15" name="Picture 1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480A90D-541D-9D0E-B963-9595495AAE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1406" y="3657600"/>
            <a:ext cx="1651154" cy="14234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Bundle &amp; Cluster Profile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adoption rates and cluster behavioral heatmap</a:t>
            </a:r>
            <a:endParaRPr lang="en-US" sz="1200" dirty="0"/>
          </a:p>
        </p:txBody>
      </p:sp>
      <p:pic>
        <p:nvPicPr>
          <p:cNvPr id="4" name="Image 0" descr="/home/claude/nb_images/cell22_out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41512"/>
            <a:ext cx="4754880" cy="3108960"/>
          </a:xfrm>
          <a:prstGeom prst="rect">
            <a:avLst/>
          </a:prstGeom>
        </p:spPr>
      </p:pic>
      <p:pic>
        <p:nvPicPr>
          <p:cNvPr id="5" name="Image 1" descr="/home/claude/nb_images/cell48_out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51560"/>
            <a:ext cx="4206240" cy="31089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#Customers with more service bundles churn less. Cluster heatmap confirms Cluster 1 (high churn) has low service adoption + short tenure.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#Target M2M Fiber users with no security</a:t>
            </a:r>
          </a:p>
        </p:txBody>
      </p:sp>
      <p:sp>
        <p:nvSpPr>
          <p:cNvPr id="7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9218</TotalTime>
  <Words>1111</Words>
  <Application>Microsoft Macintosh PowerPoint</Application>
  <PresentationFormat>On-screen Show (16:9)</PresentationFormat>
  <Paragraphs>189</Paragraphs>
  <Slides>25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Customer Churn Using Explainable AI (SHAP &amp; LIME)</dc:title>
  <dc:subject>PptxGenJS Presentation</dc:subject>
  <dc:creator>Arin</dc:creator>
  <cp:lastModifiedBy>Arindom Kashyap</cp:lastModifiedBy>
  <cp:revision>16</cp:revision>
  <dcterms:created xsi:type="dcterms:W3CDTF">2026-03-15T11:36:01Z</dcterms:created>
  <dcterms:modified xsi:type="dcterms:W3CDTF">2026-03-31T19:39:23Z</dcterms:modified>
</cp:coreProperties>
</file>